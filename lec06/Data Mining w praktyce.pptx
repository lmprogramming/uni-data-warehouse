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E9EBB37-2C87-B586-2315-224C393A7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25DCBBF-6CDD-081F-1DB3-29F491977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4AF094E-1CB9-1BAA-978B-780CF3F92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4E86-61EB-43C1-BAAE-FB48DE7D85C1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59AD1E-75E6-DF52-D06D-82455FD7D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6E1CF3D-F257-AA8C-D20A-CF784997F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64513-7B76-46CF-A99C-4EE0D4FD6E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9342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2C6A89-C527-6A37-AE90-5E2B14379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CE6AFBA-9317-8C9A-C364-CC7845F09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F3DD965-C63A-E064-ACFC-7918351B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4E86-61EB-43C1-BAAE-FB48DE7D85C1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ECF570B-4EB2-A8FB-43AD-701CCE989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A30F34B-4ACD-FC23-F647-06A3E73CB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64513-7B76-46CF-A99C-4EE0D4FD6E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79209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0D5DDA-4EC5-60B9-63B3-65BAC3E7A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B97F567-0389-4AED-59C0-ECD770909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D1B63F5-E39F-F8CA-9208-7B3344ACB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4E86-61EB-43C1-BAAE-FB48DE7D85C1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D259AFE-F405-0537-D5A9-10D41D50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B9D1A12-A49E-E8C3-432F-C8B17959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64513-7B76-46CF-A99C-4EE0D4FD6E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08406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D215C0-70C2-92B9-B89E-3A8B64F85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FABB282-D033-EE09-3E7A-8EC504A926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0F2C52B-66A6-D2F6-8F24-03E97DC8C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872BE31-AB9C-C2DC-DB27-9C0883AF1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4E86-61EB-43C1-BAAE-FB48DE7D85C1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1F3E6BD-C3F3-EA53-7CF4-B3FEF1507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E98E3FB-4C7A-061A-6DBB-F505C6A57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64513-7B76-46CF-A99C-4EE0D4FD6E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50591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058952D-6907-330D-EB74-0F8575E4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588F908-0368-F1A3-207D-9CFB718C1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73FA255-D6D7-A659-5D9F-DD44DF20A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838FDA07-5A8C-B9A4-4CC4-5931C607E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C168A72-DC55-29C5-3476-D50F93582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8799D5E-7FB8-1BEE-C91F-9695DD6BF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4E86-61EB-43C1-BAAE-FB48DE7D85C1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1CFD5A08-AD56-00C7-A090-98F712F5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3F4A54B-61FC-5D0E-8ED4-734B9B28A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64513-7B76-46CF-A99C-4EE0D4FD6E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188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45904FC-D011-FB45-04A5-4301E51B2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8D1C9599-037A-2252-CE63-4864F5D0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4E86-61EB-43C1-BAAE-FB48DE7D85C1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010DE93-1ED0-1BB9-4A91-3C0324B4C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D4EC2AB2-CA28-3E87-83D6-13AA649A8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64513-7B76-46CF-A99C-4EE0D4FD6E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91201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62704476-4113-6E77-77A6-8ABC71211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4E86-61EB-43C1-BAAE-FB48DE7D85C1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3B4DE90A-9033-0376-B5FF-46C5EAE0A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82A48FD-354D-5A88-E1BE-96D9BC715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64513-7B76-46CF-A99C-4EE0D4FD6E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2128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69E95D-D3B6-756C-0D75-28A960368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2AE7632-4BA5-BF64-8C6A-135D44E63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6AC5B42-3B38-929D-3483-F8D0A9DAB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2A7F07B-604B-2C47-3033-BD226F02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4E86-61EB-43C1-BAAE-FB48DE7D85C1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39E8D02-3309-C76B-01A0-387489C49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134A111-3A90-378B-DA41-8B015B8E5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64513-7B76-46CF-A99C-4EE0D4FD6E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3650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5914AEF-25B0-030E-7FCA-DFE13535D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F10E3DAC-D421-D5A1-4B79-060E0A5B54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0B536E6-90AC-253D-1475-B40C544A9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5C19D4F-EF6D-700B-6F08-1CA6EBF00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4E86-61EB-43C1-BAAE-FB48DE7D85C1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520FEBF-BA14-D2BC-D65C-1A7BE1C56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2374EA9-8A9E-E70E-4B22-521DACDD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64513-7B76-46CF-A99C-4EE0D4FD6E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08974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767A142-686A-9541-F792-B243FA3C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1A334C-CE38-BEC4-6C54-79943E51B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864201E-E818-111C-2AD8-0A5FBB79B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4E86-61EB-43C1-BAAE-FB48DE7D85C1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7A5BA2B-B07F-B2B2-D93B-B5380FEDE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D1DAAB0-986C-CDCA-F2DB-F416707D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64513-7B76-46CF-A99C-4EE0D4FD6E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2118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6B3670E-9B03-17B5-30A3-5B630F5BB8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189F5E9-EB75-D639-FA13-1220E080C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48731A7-6ED8-0C91-AE4B-FBE01A7AD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14E86-61EB-43C1-BAAE-FB48DE7D85C1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2C16EF6-D60C-E80E-5864-DEB8A7C37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32B31A6-2CC9-BF88-63CB-A9C2B9DD6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64513-7B76-46CF-A99C-4EE0D4FD6E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4960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97EE6CFA-6F98-2908-240E-64C8459B1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1906D16-E2B5-FFD1-7887-E501AC1A7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D6B1087-05A1-02DC-6264-48D01C5AFB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414E86-61EB-43C1-BAAE-FB48DE7D85C1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16EF599-E857-A051-691C-41734E368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02EC8A5-7C61-55C0-E387-AC808EB62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E64513-7B76-46CF-A99C-4EE0D4FD6E2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71700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E06708-987F-DE19-98A1-7B7202FBA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6477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l-PL" b="1" dirty="0"/>
              <a:t>Data </a:t>
            </a:r>
            <a:r>
              <a:rPr lang="pl-PL" b="1" dirty="0" err="1"/>
              <a:t>Mining</a:t>
            </a:r>
            <a:r>
              <a:rPr lang="pl-PL" b="1" dirty="0"/>
              <a:t> w praktyce: przewidywanie </a:t>
            </a:r>
            <a:r>
              <a:rPr lang="pl-PL" b="1" dirty="0" err="1"/>
              <a:t>zachowań</a:t>
            </a:r>
            <a:r>
              <a:rPr lang="pl-PL" b="1" dirty="0"/>
              <a:t> klientów </a:t>
            </a:r>
            <a:r>
              <a:rPr lang="pl-PL" b="1" dirty="0" err="1"/>
              <a:t>AdventureWorks</a:t>
            </a:r>
            <a:r>
              <a:rPr lang="pl-PL" b="1" dirty="0"/>
              <a:t> z użyciem </a:t>
            </a:r>
            <a:r>
              <a:rPr lang="pl-PL" b="1" dirty="0" err="1"/>
              <a:t>Pythona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3F6DC4D-F8C4-A6B3-E458-BD5C9E94A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19942"/>
            <a:ext cx="9144000" cy="1655762"/>
          </a:xfrm>
        </p:spPr>
        <p:txBody>
          <a:bodyPr/>
          <a:lstStyle/>
          <a:p>
            <a:r>
              <a:rPr lang="pl-PL" b="1" dirty="0"/>
              <a:t>Mikołaj Kubś 272662</a:t>
            </a: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7880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80E801A-AD6F-D505-40A2-14B6138A9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Data </a:t>
            </a:r>
            <a:r>
              <a:rPr lang="pl-PL" dirty="0" err="1"/>
              <a:t>mining</a:t>
            </a:r>
            <a:r>
              <a:rPr lang="pl-PL" dirty="0"/>
              <a:t> – podstawy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DD8E428-4CA8-2B2D-1EC3-3994EFD8A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Data </a:t>
            </a:r>
            <a:r>
              <a:rPr lang="pl-PL" dirty="0" err="1"/>
              <a:t>Mining</a:t>
            </a:r>
            <a:r>
              <a:rPr lang="pl-PL" dirty="0"/>
              <a:t> (eksploracja danych / </a:t>
            </a:r>
            <a:r>
              <a:rPr lang="pl-PL" dirty="0" err="1"/>
              <a:t>knowledge</a:t>
            </a:r>
            <a:r>
              <a:rPr lang="pl-PL" dirty="0"/>
              <a:t> </a:t>
            </a:r>
            <a:r>
              <a:rPr lang="pl-PL" dirty="0" err="1"/>
              <a:t>discovery</a:t>
            </a:r>
            <a:r>
              <a:rPr lang="pl-PL" dirty="0"/>
              <a:t> in </a:t>
            </a:r>
            <a:r>
              <a:rPr lang="pl-PL" dirty="0" err="1"/>
              <a:t>databases</a:t>
            </a:r>
            <a:r>
              <a:rPr lang="pl-PL" dirty="0"/>
              <a:t> - KDD) polega na znalezieniu nieoczywistych wzorców, trendów i zależności istniejących w dużym zbiorze danych. </a:t>
            </a:r>
          </a:p>
          <a:p>
            <a:r>
              <a:rPr lang="pl-PL" dirty="0"/>
              <a:t>Może albo pomóc opisać zbiór danych, albo przewidzieć rezultat na podstawie algorytmów uczenia maszynowego czy nawet sztucznej inteligencji.</a:t>
            </a:r>
          </a:p>
          <a:p>
            <a:r>
              <a:rPr lang="pl-PL" dirty="0"/>
              <a:t>Firmy wykorzystują te relacje do podejmowania mądrzejszych decyzji – od prognozowania sprzedaży po dogłębne zrozumienie </a:t>
            </a:r>
            <a:r>
              <a:rPr lang="pl-PL" dirty="0" err="1"/>
              <a:t>zachowań</a:t>
            </a:r>
            <a:r>
              <a:rPr lang="pl-PL" dirty="0"/>
              <a:t> klientów.</a:t>
            </a:r>
          </a:p>
        </p:txBody>
      </p:sp>
    </p:spTree>
    <p:extLst>
      <p:ext uri="{BB962C8B-B14F-4D97-AF65-F5344CB8AC3E}">
        <p14:creationId xmlns:p14="http://schemas.microsoft.com/office/powerpoint/2010/main" val="3119519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A451C61-8FAC-7A40-A9A6-2DBB6BA60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Zyski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24DB43A-588A-3F1B-6D13-A2FAA7105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11256" cy="4351338"/>
          </a:xfrm>
        </p:spPr>
        <p:txBody>
          <a:bodyPr>
            <a:normAutofit fontScale="92500"/>
          </a:bodyPr>
          <a:lstStyle/>
          <a:p>
            <a:r>
              <a:rPr lang="pl-PL" dirty="0"/>
              <a:t>Data </a:t>
            </a:r>
            <a:r>
              <a:rPr lang="pl-PL" dirty="0" err="1"/>
              <a:t>mining</a:t>
            </a:r>
            <a:r>
              <a:rPr lang="pl-PL" dirty="0"/>
              <a:t> bierze surowe dane i znajduje w nich pewien porządek. To może pomóc podejmować decyzje w wielu różnych korporacyjnych i przemysłowych działach, jak reklamowanie/marketing, finanse, sektor publiczny, sektor zdrowotny, HR, produkcja, sprzedaż czy zarządzanie łańcuchem dostaw (SCM)</a:t>
            </a:r>
          </a:p>
          <a:p>
            <a:r>
              <a:rPr lang="pl-PL" dirty="0"/>
              <a:t>Oszczędności: dzięki analizie danych o wydajności z wielu źródeł, można zidentyfikować problemy w procesach biznesowych. Dzięki takiej identyfikacji łatwiej będzie się ich pozbyć i zwiększyć wydajność i szybkość takich procesów.</a:t>
            </a:r>
          </a:p>
          <a:p>
            <a:r>
              <a:rPr lang="pl-PL" dirty="0"/>
              <a:t>Data </a:t>
            </a:r>
            <a:r>
              <a:rPr lang="pl-PL" dirty="0" err="1"/>
              <a:t>mining</a:t>
            </a:r>
            <a:r>
              <a:rPr lang="pl-PL" dirty="0"/>
              <a:t> to wszechstronne narzędzie - każdy dział, który zbiera i analizuje dane, może z niego skorzystać.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44560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CD3EC2A-67F1-0BA1-9635-C68580715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Wyzwania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8DEE439-F738-93B1-7D6F-0E7A720B2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68367"/>
          </a:xfrm>
        </p:spPr>
        <p:txBody>
          <a:bodyPr>
            <a:normAutofit fontScale="85000" lnSpcReduction="20000"/>
          </a:bodyPr>
          <a:lstStyle/>
          <a:p>
            <a:r>
              <a:rPr lang="pl-PL" dirty="0"/>
              <a:t>Złożoność - data </a:t>
            </a:r>
            <a:r>
              <a:rPr lang="pl-PL" dirty="0" err="1"/>
              <a:t>mining</a:t>
            </a:r>
            <a:r>
              <a:rPr lang="pl-PL" dirty="0"/>
              <a:t> wymaga wiedzy z wielu działów IT - data engineering, data </a:t>
            </a:r>
            <a:r>
              <a:rPr lang="pl-PL" dirty="0" err="1"/>
              <a:t>analysis</a:t>
            </a:r>
            <a:r>
              <a:rPr lang="pl-PL" dirty="0"/>
              <a:t> i </a:t>
            </a:r>
            <a:r>
              <a:rPr lang="pl-PL" dirty="0" err="1"/>
              <a:t>machine</a:t>
            </a:r>
            <a:r>
              <a:rPr lang="pl-PL" dirty="0"/>
              <a:t> learning. Przyda się solidna wiedza z </a:t>
            </a:r>
            <a:r>
              <a:rPr lang="pl-PL" dirty="0" err="1"/>
              <a:t>Pythona</a:t>
            </a:r>
            <a:r>
              <a:rPr lang="pl-PL" dirty="0"/>
              <a:t>/R i </a:t>
            </a:r>
            <a:r>
              <a:rPr lang="pl-PL" dirty="0" err="1"/>
              <a:t>SQLa</a:t>
            </a:r>
            <a:r>
              <a:rPr lang="pl-PL" dirty="0"/>
              <a:t>. Bez dobrej znajomości </a:t>
            </a:r>
            <a:r>
              <a:rPr lang="pl-PL" dirty="0" err="1"/>
              <a:t>machine</a:t>
            </a:r>
            <a:r>
              <a:rPr lang="pl-PL" dirty="0"/>
              <a:t> learningu czy popełnienia błędów na poprzednich krokach, łatwo wytworzyć analizy oparte na kompletnie nieprawdziwych danych. Trzeba też uważać na nieujawnianie danych osobowych.</a:t>
            </a:r>
          </a:p>
          <a:p>
            <a:r>
              <a:rPr lang="pl-PL" dirty="0"/>
              <a:t>Wymóg szerokiego i szczegółowego zbioru danych - trudne, zwłaszcza w dużych, starszych firmach, gdzie dane mogą być nieuporządkowane i niskiej jakości. Data </a:t>
            </a:r>
            <a:r>
              <a:rPr lang="pl-PL" dirty="0" err="1"/>
              <a:t>mining</a:t>
            </a:r>
            <a:r>
              <a:rPr lang="pl-PL" dirty="0"/>
              <a:t> wymaga czystego i dużego zbioru danych - najlepiej na podstawie Data </a:t>
            </a:r>
            <a:r>
              <a:rPr lang="pl-PL" dirty="0" err="1"/>
              <a:t>Warehouse</a:t>
            </a:r>
            <a:r>
              <a:rPr lang="pl-PL" dirty="0"/>
              <a:t>, którego zbudowanie będzie trudne, zwłaszcza z różnymi data </a:t>
            </a:r>
            <a:r>
              <a:rPr lang="pl-PL" dirty="0" err="1"/>
              <a:t>pipelines</a:t>
            </a:r>
            <a:r>
              <a:rPr lang="pl-PL" dirty="0"/>
              <a:t> łączące bardzo różne źródła danych.</a:t>
            </a:r>
          </a:p>
          <a:p>
            <a:r>
              <a:rPr lang="pl-PL" dirty="0"/>
              <a:t>Niepewność - nawet dobrze przeprowadzona próba data </a:t>
            </a:r>
            <a:r>
              <a:rPr lang="pl-PL" dirty="0" err="1"/>
              <a:t>mining</a:t>
            </a:r>
            <a:r>
              <a:rPr lang="pl-PL" dirty="0"/>
              <a:t> może nie przynieść żadnych wartościowych rezultatów. Gorzej, jeśli zwróci rezultaty niezgodne z prawdą na podstawie różnych błędów w tym skomplikowanym procesie. Trzeba też pamiętać, że korelacja nie oznacza związku przyczynowego. Dobra, krytyczna analiza jest tu, jak zawsze, ważna. 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178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615FFA-2D52-E2D7-3322-36EDA554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Nowoczesne narzędzia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1422A1D-2B39-53F0-5F3F-AA682D06B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91840"/>
            <a:ext cx="10515600" cy="4488498"/>
          </a:xfrm>
        </p:spPr>
        <p:txBody>
          <a:bodyPr/>
          <a:lstStyle/>
          <a:p>
            <a:r>
              <a:rPr lang="pl-PL" dirty="0"/>
              <a:t>Niestety jak widać, należy używać starszej wersji SQL Server Analysis Services, aby wykonać data </a:t>
            </a:r>
            <a:r>
              <a:rPr lang="pl-PL" dirty="0" err="1"/>
              <a:t>mining</a:t>
            </a:r>
            <a:r>
              <a:rPr lang="pl-PL" dirty="0"/>
              <a:t> właśnie w Analysis Services. Dlatego skorzystałem z nowoczesnego narzędzia jakim jest </a:t>
            </a:r>
            <a:r>
              <a:rPr lang="pl-PL" dirty="0" err="1"/>
              <a:t>Python</a:t>
            </a:r>
            <a:r>
              <a:rPr lang="pl-PL" dirty="0"/>
              <a:t>, szeroko używanym do Machine Learningu i data engineering dzięki jego prostocie i bogactwie bibliotek. Innym językiem programowania często używanym w data science jest R. Przyda się też wiedza z SQL, którego używa się na każdym kroku w prawie każdej firmie zbierającej i analizującej swoje dane.</a:t>
            </a:r>
          </a:p>
          <a:p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6C2507A-229C-4ABC-1B48-739247B2A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6370"/>
            <a:ext cx="8125959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160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C48C5D-AD41-07C0-AF07-70E9CEFD4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Analiza w praktyce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637D654-DD9B-E06C-87B9-B9C56D9F8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/>
          </a:bodyPr>
          <a:lstStyle/>
          <a:p>
            <a:r>
              <a:rPr lang="pl-PL" dirty="0" err="1"/>
              <a:t>Zajmiejmy</a:t>
            </a:r>
            <a:r>
              <a:rPr lang="pl-PL" dirty="0"/>
              <a:t> się praktycznym przykładem Data </a:t>
            </a:r>
            <a:r>
              <a:rPr lang="pl-PL" dirty="0" err="1"/>
              <a:t>mining</a:t>
            </a:r>
            <a:r>
              <a:rPr lang="pl-PL" dirty="0"/>
              <a:t> dla dobrze znanego nam zbioru danych - </a:t>
            </a:r>
            <a:r>
              <a:rPr lang="pl-PL" dirty="0" err="1"/>
              <a:t>AdventureWorks</a:t>
            </a:r>
            <a:r>
              <a:rPr lang="pl-PL" dirty="0"/>
              <a:t>, a dokładniej jego Data </a:t>
            </a:r>
            <a:r>
              <a:rPr lang="pl-PL" dirty="0" err="1"/>
              <a:t>Warehouse</a:t>
            </a:r>
            <a:r>
              <a:rPr lang="pl-PL" dirty="0"/>
              <a:t> odpowiednika - AdventureWorksDW2014. Wybrałem wersję Data </a:t>
            </a:r>
            <a:r>
              <a:rPr lang="pl-PL" dirty="0" err="1"/>
              <a:t>Warehouse</a:t>
            </a:r>
            <a:r>
              <a:rPr lang="pl-PL" dirty="0"/>
              <a:t>, bo przechowuje czyste i zagregowane dane, np. </a:t>
            </a:r>
            <a:r>
              <a:rPr lang="pl-PL" dirty="0" err="1"/>
              <a:t>view</a:t>
            </a:r>
            <a:r>
              <a:rPr lang="pl-PL" dirty="0"/>
              <a:t> o nazwie </a:t>
            </a:r>
            <a:r>
              <a:rPr lang="pl-PL" dirty="0" err="1"/>
              <a:t>dbo.vTargetMail</a:t>
            </a:r>
            <a:endParaRPr lang="pl-PL" dirty="0"/>
          </a:p>
          <a:p>
            <a:r>
              <a:rPr lang="pl-PL" dirty="0"/>
              <a:t>Postaramy się dowiedzieć, co sprawia, że dany klient kupi rower? Jako cech użyjemy różnych danych demograficznych, jakie zbiera firma.</a:t>
            </a:r>
          </a:p>
          <a:p>
            <a:r>
              <a:rPr lang="pl-PL" dirty="0"/>
              <a:t>Aby dojść do odpowiedzi, skorzystamy z potężnego i intuicyjnego algorytmu klasyfikacyjnego - </a:t>
            </a:r>
            <a:r>
              <a:rPr lang="pl-PL" dirty="0" err="1"/>
              <a:t>Decision</a:t>
            </a:r>
            <a:r>
              <a:rPr lang="pl-PL" dirty="0"/>
              <a:t> </a:t>
            </a:r>
            <a:r>
              <a:rPr lang="pl-PL" dirty="0" err="1"/>
              <a:t>Tree</a:t>
            </a:r>
            <a:r>
              <a:rPr lang="pl-PL" dirty="0"/>
              <a:t> / Drzewo Decyzyjne. </a:t>
            </a:r>
            <a:r>
              <a:rPr lang="pl-PL" dirty="0" err="1"/>
              <a:t>Decision</a:t>
            </a:r>
            <a:r>
              <a:rPr lang="pl-PL" dirty="0"/>
              <a:t> </a:t>
            </a:r>
            <a:r>
              <a:rPr lang="pl-PL" dirty="0" err="1"/>
              <a:t>Tree</a:t>
            </a:r>
            <a:r>
              <a:rPr lang="pl-PL" dirty="0"/>
              <a:t> działa jak schemat blokowy, zadając serię pytań, aby dojść do ostatecznej decyzji. Wynik można też łatwo zwizualizować i zrozumieć.</a:t>
            </a:r>
          </a:p>
        </p:txBody>
      </p:sp>
    </p:spTree>
    <p:extLst>
      <p:ext uri="{BB962C8B-B14F-4D97-AF65-F5344CB8AC3E}">
        <p14:creationId xmlns:p14="http://schemas.microsoft.com/office/powerpoint/2010/main" val="4239274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80781ED-E540-0053-B1C7-03B685DE4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Analiza w praktyce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0C88A1F-4B6F-5D4A-A5F0-BCF6FB594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Przejdźmy do notebooka </a:t>
            </a:r>
            <a:r>
              <a:rPr lang="pl-PL" dirty="0" err="1"/>
              <a:t>Jupyter</a:t>
            </a:r>
            <a:r>
              <a:rPr lang="pl-PL" dirty="0"/>
              <a:t>, gdzie łatwiej będzie przeprowadzić resztę prezentacji</a:t>
            </a:r>
          </a:p>
        </p:txBody>
      </p:sp>
    </p:spTree>
    <p:extLst>
      <p:ext uri="{BB962C8B-B14F-4D97-AF65-F5344CB8AC3E}">
        <p14:creationId xmlns:p14="http://schemas.microsoft.com/office/powerpoint/2010/main" val="210364431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573</Words>
  <Application>Microsoft Office PowerPoint</Application>
  <PresentationFormat>Panoramiczny</PresentationFormat>
  <Paragraphs>22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Motyw pakietu Office</vt:lpstr>
      <vt:lpstr>Data Mining w praktyce: przewidywanie zachowań klientów AdventureWorks z użyciem Pythona</vt:lpstr>
      <vt:lpstr>Data mining – podstawy</vt:lpstr>
      <vt:lpstr>Zyski</vt:lpstr>
      <vt:lpstr>Wyzwania</vt:lpstr>
      <vt:lpstr>Nowoczesne narzędzia</vt:lpstr>
      <vt:lpstr>Analiza w praktyce</vt:lpstr>
      <vt:lpstr>Analiza w praktyce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Mikołaj Kubś (272662)</dc:creator>
  <cp:lastModifiedBy>Mikołaj Kubś (272662)</cp:lastModifiedBy>
  <cp:revision>1</cp:revision>
  <dcterms:created xsi:type="dcterms:W3CDTF">2025-06-15T19:34:22Z</dcterms:created>
  <dcterms:modified xsi:type="dcterms:W3CDTF">2025-06-15T19:43:26Z</dcterms:modified>
</cp:coreProperties>
</file>